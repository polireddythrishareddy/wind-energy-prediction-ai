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2" r:id="rId1"/>
  </p:sldMasterIdLst>
  <p:notesMasterIdLst>
    <p:notesMasterId r:id="rId14"/>
  </p:notesMasterIdLst>
  <p:sldIdLst>
    <p:sldId id="256" r:id="rId2"/>
    <p:sldId id="257" r:id="rId3"/>
    <p:sldId id="265" r:id="rId4"/>
    <p:sldId id="261" r:id="rId5"/>
    <p:sldId id="258" r:id="rId6"/>
    <p:sldId id="262" r:id="rId7"/>
    <p:sldId id="267" r:id="rId8"/>
    <p:sldId id="270" r:id="rId9"/>
    <p:sldId id="268" r:id="rId10"/>
    <p:sldId id="269" r:id="rId11"/>
    <p:sldId id="263" r:id="rId12"/>
    <p:sldId id="264" r:id="rId13"/>
  </p:sldIdLst>
  <p:sldSz cx="12192000" cy="6858000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ulNVcaLa/rGJql38tptp+b6rG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64BAAD-AB51-4A24-8DA4-4B3047B168D7}" v="30" dt="2025-12-01T08:46:35.848"/>
  </p1510:revLst>
</p1510:revInfo>
</file>

<file path=ppt/tableStyles.xml><?xml version="1.0" encoding="utf-8"?>
<a:tblStyleLst xmlns:a="http://schemas.openxmlformats.org/drawingml/2006/main" def="{D15894DF-9AC3-41A8-843B-C29A499DB286}">
  <a:tblStyle styleId="{D15894DF-9AC3-41A8-843B-C29A499DB2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FB28ABAC-B3AF-055B-A26C-E76E3AEF1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7574AF33-396A-4DF3-7E99-B2D3E4F2CB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ACBF38D8-0DB7-A0D6-4ADE-62264FEF08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E61684F1-D22C-ED38-7941-F64F1DE5E2C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>
            <a:extLst>
              <a:ext uri="{FF2B5EF4-FFF2-40B4-BE49-F238E27FC236}">
                <a16:creationId xmlns:a16="http://schemas.microsoft.com/office/drawing/2014/main" id="{5B697167-850C-13BF-2191-434699819F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0780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(</a:t>
            </a:r>
            <a:endParaRPr dirty="0"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0D6856D2-799E-217E-AB68-3A2AD18E0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AD95C8CF-C0EF-70A3-F958-D9F2FE5A26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3" name="Google Shape;123;p3:notes">
            <a:extLst>
              <a:ext uri="{FF2B5EF4-FFF2-40B4-BE49-F238E27FC236}">
                <a16:creationId xmlns:a16="http://schemas.microsoft.com/office/drawing/2014/main" id="{F0B9CA94-DAF2-EF91-6842-3997380CC8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1639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991A8F5B-0A8E-E279-C2B8-B27DAB8B9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>
            <a:extLst>
              <a:ext uri="{FF2B5EF4-FFF2-40B4-BE49-F238E27FC236}">
                <a16:creationId xmlns:a16="http://schemas.microsoft.com/office/drawing/2014/main" id="{7B968651-FC8A-A230-99A9-B1CD5E2A2A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>
            <a:extLst>
              <a:ext uri="{FF2B5EF4-FFF2-40B4-BE49-F238E27FC236}">
                <a16:creationId xmlns:a16="http://schemas.microsoft.com/office/drawing/2014/main" id="{C07555D2-E2CE-450A-615B-9F7DDCD04E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7470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9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9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/>
        </p:nvSpPr>
        <p:spPr>
          <a:xfrm>
            <a:off x="0" y="-27384"/>
            <a:ext cx="12192000" cy="576000"/>
          </a:xfrm>
          <a:prstGeom prst="rect">
            <a:avLst/>
          </a:prstGeom>
          <a:solidFill>
            <a:srgbClr val="538CD5"/>
          </a:solidFill>
          <a:ln>
            <a:noFill/>
          </a:ln>
          <a:effectLst>
            <a:outerShdw blurRad="50800" sx="1000" sy="1000" algn="t" rotWithShape="0">
              <a:srgbClr val="538CD5"/>
            </a:outerShdw>
            <a:reflection stA="57000" endPos="44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390983" y="-27591"/>
            <a:ext cx="1791492" cy="57620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powerandgas.us/all-you-need-to-know-about-wind-energy-technologies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flickr.com/photos/keibr/11802308266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2209800" y="2209801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SzPts val="1800"/>
            </a:pPr>
            <a:r>
              <a:rPr lang="en-IN" sz="1800" b="1" dirty="0">
                <a:latin typeface="Verdana"/>
                <a:ea typeface="Verdana"/>
                <a:cs typeface="Verdana"/>
                <a:sym typeface="Verdana"/>
              </a:rPr>
              <a:t>Section C</a:t>
            </a:r>
            <a:br>
              <a:rPr lang="en-IN" sz="1800" b="1" dirty="0">
                <a:latin typeface="Verdana"/>
                <a:ea typeface="Verdana"/>
                <a:cs typeface="Verdana"/>
                <a:sym typeface="Verdana"/>
              </a:rPr>
            </a:br>
            <a:r>
              <a:rPr lang="en-IN" sz="1800" b="1" dirty="0">
                <a:latin typeface="Verdana"/>
                <a:ea typeface="Verdana"/>
                <a:cs typeface="Verdana"/>
                <a:sym typeface="Verdana"/>
              </a:rPr>
              <a:t>WIND ENERGY PREDICTION USING AI</a:t>
            </a:r>
            <a:endParaRPr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341120" y="3759200"/>
            <a:ext cx="415544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Students Details: </a:t>
            </a: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Student 1 : POLIREDDY THRISHA REDDY (ENG24AM0246)</a:t>
            </a: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Student 2 : CHANDANA V (ENG24AM0154)</a:t>
            </a: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Student 3 : ASHWIKA (ENG24AM0013)</a:t>
            </a: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Student 4 : TRISHA M (ENG24AM0307)</a:t>
            </a: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1" name="Google Shape;91;p1" descr="DSU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520" y="823697"/>
            <a:ext cx="3810000" cy="14692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">
            <a:extLst>
              <a:ext uri="{FF2B5EF4-FFF2-40B4-BE49-F238E27FC236}">
                <a16:creationId xmlns:a16="http://schemas.microsoft.com/office/drawing/2014/main" id="{A700557B-D107-2862-976B-545D53B1C511}"/>
              </a:ext>
            </a:extLst>
          </p:cNvPr>
          <p:cNvSpPr txBox="1">
            <a:spLocks/>
          </p:cNvSpPr>
          <p:nvPr/>
        </p:nvSpPr>
        <p:spPr>
          <a:xfrm>
            <a:off x="7538720" y="4199467"/>
            <a:ext cx="278384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Mentored By: </a:t>
            </a:r>
          </a:p>
          <a:p>
            <a:pPr marL="0" indent="0"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DR. JAYAVRINDA V</a:t>
            </a:r>
          </a:p>
          <a:p>
            <a:pPr marL="0" indent="0"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Professor And Chairperson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811530" y="1309370"/>
            <a:ext cx="10880725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lang="en-US" sz="5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5400" dirty="0">
                <a:solidFill>
                  <a:schemeClr val="dk1"/>
                </a:solidFill>
                <a:latin typeface="Bell MT" panose="02020503060305020303" pitchFamily="18" charset="0"/>
                <a:ea typeface="Calibri"/>
                <a:cs typeface="Calibri"/>
                <a:sym typeface="Calibri"/>
              </a:rPr>
              <a:t>WIND ENERGY PREDICTION USING ARTIFICIAL INTELLIGENCE (AI) </a:t>
            </a:r>
            <a:endParaRPr sz="5400" dirty="0">
              <a:solidFill>
                <a:schemeClr val="dk1"/>
              </a:solidFill>
              <a:latin typeface="Bell MT" panose="02020503060305020303" pitchFamily="18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2EEC4-A3D5-9F8D-497B-BAC2634CD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717801" cy="1143000"/>
          </a:xfrm>
        </p:spPr>
        <p:txBody>
          <a:bodyPr/>
          <a:lstStyle/>
          <a:p>
            <a:r>
              <a:rPr lang="en-IN" sz="280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9632F-3378-18BC-1404-B3249B562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0867" y="948267"/>
            <a:ext cx="6951133" cy="5647266"/>
          </a:xfrm>
        </p:spPr>
        <p:txBody>
          <a:bodyPr numCol="1"/>
          <a:lstStyle/>
          <a:p>
            <a:pPr marL="25400" indent="0">
              <a:buNone/>
            </a:pPr>
            <a:r>
              <a:rPr lang="en-US" sz="2400" b="1" dirty="0"/>
              <a:t>• Wind energy is a clean and renewable source of power.</a:t>
            </a:r>
          </a:p>
          <a:p>
            <a:pPr marL="25400" indent="0" algn="just">
              <a:buNone/>
            </a:pPr>
            <a:r>
              <a:rPr lang="en-US" sz="2400" b="1" dirty="0"/>
              <a:t>• The amount of electricity produced depends on wind speed and direction, which are unpredictable</a:t>
            </a:r>
          </a:p>
          <a:p>
            <a:pPr marL="25400" indent="0">
              <a:buNone/>
            </a:pPr>
            <a:r>
              <a:rPr lang="en-US" sz="2400" b="1" dirty="0"/>
              <a:t>• Artificial Intelligence (AI) can analyze past wind and weather data.	</a:t>
            </a:r>
          </a:p>
          <a:p>
            <a:pPr marL="25400" indent="0">
              <a:buNone/>
            </a:pPr>
            <a:r>
              <a:rPr lang="en-US" sz="2400" b="1" dirty="0"/>
              <a:t>• AI predicts future wind energy generation accurately.</a:t>
            </a:r>
          </a:p>
          <a:p>
            <a:pPr marL="25400" indent="0">
              <a:buNone/>
            </a:pPr>
            <a:r>
              <a:rPr lang="en-US" sz="2400" b="1" dirty="0"/>
              <a:t>• This helps in better planning, reducing waste, and supporting sustainable energy.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4B5CC9-6226-08C7-354D-3736AFACF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747000" y="1659467"/>
            <a:ext cx="3996267" cy="328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7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650D0DA8-3B0B-A495-E232-8154E143D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>
            <a:extLst>
              <a:ext uri="{FF2B5EF4-FFF2-40B4-BE49-F238E27FC236}">
                <a16:creationId xmlns:a16="http://schemas.microsoft.com/office/drawing/2014/main" id="{CF81CF45-1BAE-BE36-3509-670B8CB11D4B}"/>
              </a:ext>
            </a:extLst>
          </p:cNvPr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IN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sz="3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75D8656A-1195-1E5D-53C3-D8677B1930B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">
            <a:extLst>
              <a:ext uri="{FF2B5EF4-FFF2-40B4-BE49-F238E27FC236}">
                <a16:creationId xmlns:a16="http://schemas.microsoft.com/office/drawing/2014/main" id="{ACEF316F-A892-2CEF-5B85-2922C8D6311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/>
          </a:p>
        </p:txBody>
      </p:sp>
      <p:sp>
        <p:nvSpPr>
          <p:cNvPr id="119" name="Google Shape;119;p2">
            <a:extLst>
              <a:ext uri="{FF2B5EF4-FFF2-40B4-BE49-F238E27FC236}">
                <a16:creationId xmlns:a16="http://schemas.microsoft.com/office/drawing/2014/main" id="{75031AD4-A5F6-9016-D444-8B9B42B8EA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sp>
        <p:nvSpPr>
          <p:cNvPr id="120" name="Google Shape;120;p2">
            <a:extLst>
              <a:ext uri="{FF2B5EF4-FFF2-40B4-BE49-F238E27FC236}">
                <a16:creationId xmlns:a16="http://schemas.microsoft.com/office/drawing/2014/main" id="{96ADB42B-7D7B-C80E-2174-F410B74DDCB4}"/>
              </a:ext>
            </a:extLst>
          </p:cNvPr>
          <p:cNvSpPr txBox="1"/>
          <p:nvPr/>
        </p:nvSpPr>
        <p:spPr>
          <a:xfrm>
            <a:off x="182253" y="955463"/>
            <a:ext cx="11899680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study wind power energy .</a:t>
            </a:r>
          </a:p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study about geographical area .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b="1" dirty="0"/>
              <a:t>AI models can analyze complex weather patterns and turbine data to predict wind speeds and energy output more precisely than traditional methods.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 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ADA745-9B4E-B3A5-9191-85821E0C6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454400" y="2934644"/>
            <a:ext cx="4762500" cy="31908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2D7FAC-1333-A034-BDAA-BD5B642A273E}"/>
              </a:ext>
            </a:extLst>
          </p:cNvPr>
          <p:cNvSpPr txBox="1"/>
          <p:nvPr/>
        </p:nvSpPr>
        <p:spPr>
          <a:xfrm>
            <a:off x="3454400" y="6125519"/>
            <a:ext cx="476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3826783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/>
        </p:nvSpPr>
        <p:spPr>
          <a:xfrm>
            <a:off x="119336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IN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Dataset </a:t>
            </a:r>
            <a:endParaRPr sz="3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p3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EFBA87-1EB1-D01F-89AE-F522E0829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26" y="1199072"/>
            <a:ext cx="10498348" cy="49860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6378C8-0973-82A9-5EBF-E1F1D4D8BCA0}"/>
              </a:ext>
            </a:extLst>
          </p:cNvPr>
          <p:cNvSpPr txBox="1"/>
          <p:nvPr/>
        </p:nvSpPr>
        <p:spPr>
          <a:xfrm>
            <a:off x="2691441" y="805689"/>
            <a:ext cx="78586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WIND ENERGY DATASET FOR CHIKKAMANGALURU ( 2015 - 2024 )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>
          <a:extLst>
            <a:ext uri="{FF2B5EF4-FFF2-40B4-BE49-F238E27FC236}">
              <a16:creationId xmlns:a16="http://schemas.microsoft.com/office/drawing/2014/main" id="{D3228FED-0829-AAF6-C061-345E830C1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>
            <a:extLst>
              <a:ext uri="{FF2B5EF4-FFF2-40B4-BE49-F238E27FC236}">
                <a16:creationId xmlns:a16="http://schemas.microsoft.com/office/drawing/2014/main" id="{4A6F169A-ADC8-EF64-0572-F00D46742F63}"/>
              </a:ext>
            </a:extLst>
          </p:cNvPr>
          <p:cNvSpPr txBox="1"/>
          <p:nvPr/>
        </p:nvSpPr>
        <p:spPr>
          <a:xfrm>
            <a:off x="178329" y="92122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IN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3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>
            <a:extLst>
              <a:ext uri="{FF2B5EF4-FFF2-40B4-BE49-F238E27FC236}">
                <a16:creationId xmlns:a16="http://schemas.microsoft.com/office/drawing/2014/main" id="{B0F1E918-DEDC-3E5B-FB0D-B43BDEDFE96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">
            <a:extLst>
              <a:ext uri="{FF2B5EF4-FFF2-40B4-BE49-F238E27FC236}">
                <a16:creationId xmlns:a16="http://schemas.microsoft.com/office/drawing/2014/main" id="{D0C54A5D-E957-7646-A44F-9F0478E5BBE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">
            <a:extLst>
              <a:ext uri="{FF2B5EF4-FFF2-40B4-BE49-F238E27FC236}">
                <a16:creationId xmlns:a16="http://schemas.microsoft.com/office/drawing/2014/main" id="{58D43880-3461-A7A3-C426-CBCA5584F5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36EB73-A78B-248B-9F8F-831F5EB27D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52"/>
          <a:stretch>
            <a:fillRect/>
          </a:stretch>
        </p:blipFill>
        <p:spPr>
          <a:xfrm>
            <a:off x="1278465" y="1320799"/>
            <a:ext cx="9042402" cy="433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962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0A1E2-2E70-1018-E6CD-19887DD91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29336" y="0"/>
            <a:ext cx="3011424" cy="1105590"/>
          </a:xfrm>
        </p:spPr>
        <p:txBody>
          <a:bodyPr/>
          <a:lstStyle/>
          <a:p>
            <a:r>
              <a:rPr lang="en-IN" sz="3200" b="1" dirty="0">
                <a:solidFill>
                  <a:schemeClr val="bg1"/>
                </a:solidFill>
              </a:rPr>
              <a:t>RESULT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2D9EAF-6143-3F6C-D516-72A0493E6E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67870"/>
              </p:ext>
            </p:extLst>
          </p:nvPr>
        </p:nvGraphicFramePr>
        <p:xfrm>
          <a:off x="776376" y="1105590"/>
          <a:ext cx="10806024" cy="5020576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2701506">
                  <a:extLst>
                    <a:ext uri="{9D8B030D-6E8A-4147-A177-3AD203B41FA5}">
                      <a16:colId xmlns:a16="http://schemas.microsoft.com/office/drawing/2014/main" val="3968410535"/>
                    </a:ext>
                  </a:extLst>
                </a:gridCol>
                <a:gridCol w="2698631">
                  <a:extLst>
                    <a:ext uri="{9D8B030D-6E8A-4147-A177-3AD203B41FA5}">
                      <a16:colId xmlns:a16="http://schemas.microsoft.com/office/drawing/2014/main" val="2663588366"/>
                    </a:ext>
                  </a:extLst>
                </a:gridCol>
                <a:gridCol w="2704381">
                  <a:extLst>
                    <a:ext uri="{9D8B030D-6E8A-4147-A177-3AD203B41FA5}">
                      <a16:colId xmlns:a16="http://schemas.microsoft.com/office/drawing/2014/main" val="301981142"/>
                    </a:ext>
                  </a:extLst>
                </a:gridCol>
                <a:gridCol w="2701506">
                  <a:extLst>
                    <a:ext uri="{9D8B030D-6E8A-4147-A177-3AD203B41FA5}">
                      <a16:colId xmlns:a16="http://schemas.microsoft.com/office/drawing/2014/main" val="1475155125"/>
                    </a:ext>
                  </a:extLst>
                </a:gridCol>
              </a:tblGrid>
              <a:tr h="456416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PREDICTED ENERGY (kWh)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ACTUAL ENERGY (kWh)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64862"/>
                  </a:ext>
                </a:extLst>
              </a:tr>
              <a:tr h="456416">
                <a:tc>
                  <a:txBody>
                    <a:bodyPr/>
                    <a:lstStyle/>
                    <a:p>
                      <a:r>
                        <a:rPr lang="en-IN" dirty="0"/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678596"/>
                  </a:ext>
                </a:extLst>
              </a:tr>
              <a:tr h="456416">
                <a:tc>
                  <a:txBody>
                    <a:bodyPr/>
                    <a:lstStyle/>
                    <a:p>
                      <a:r>
                        <a:rPr lang="en-IN" dirty="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958052"/>
                  </a:ext>
                </a:extLst>
              </a:tr>
              <a:tr h="456416">
                <a:tc>
                  <a:txBody>
                    <a:bodyPr/>
                    <a:lstStyle/>
                    <a:p>
                      <a:r>
                        <a:rPr lang="en-IN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149069"/>
                  </a:ext>
                </a:extLst>
              </a:tr>
              <a:tr h="456416">
                <a:tc>
                  <a:txBody>
                    <a:bodyPr/>
                    <a:lstStyle/>
                    <a:p>
                      <a:r>
                        <a:rPr lang="en-IN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43207"/>
                  </a:ext>
                </a:extLst>
              </a:tr>
              <a:tr h="456416">
                <a:tc>
                  <a:txBody>
                    <a:bodyPr/>
                    <a:lstStyle/>
                    <a:p>
                      <a:r>
                        <a:rPr lang="en-IN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766595"/>
                  </a:ext>
                </a:extLst>
              </a:tr>
              <a:tr h="456416">
                <a:tc>
                  <a:txBody>
                    <a:bodyPr/>
                    <a:lstStyle/>
                    <a:p>
                      <a:r>
                        <a:rPr lang="en-IN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22055"/>
                  </a:ext>
                </a:extLst>
              </a:tr>
              <a:tr h="456416">
                <a:tc>
                  <a:txBody>
                    <a:bodyPr/>
                    <a:lstStyle/>
                    <a:p>
                      <a:r>
                        <a:rPr lang="en-IN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20950"/>
                  </a:ext>
                </a:extLst>
              </a:tr>
              <a:tr h="456416">
                <a:tc>
                  <a:txBody>
                    <a:bodyPr/>
                    <a:lstStyle/>
                    <a:p>
                      <a:r>
                        <a:rPr lang="en-IN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720695"/>
                  </a:ext>
                </a:extLst>
              </a:tr>
              <a:tr h="456416">
                <a:tc>
                  <a:txBody>
                    <a:bodyPr/>
                    <a:lstStyle/>
                    <a:p>
                      <a:r>
                        <a:rPr lang="en-IN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156505"/>
                  </a:ext>
                </a:extLst>
              </a:tr>
              <a:tr h="456416"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211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613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BFA99-FC77-2D31-17F4-008555F53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99533" y="-74024"/>
            <a:ext cx="4233334" cy="508000"/>
          </a:xfrm>
        </p:spPr>
        <p:txBody>
          <a:bodyPr/>
          <a:lstStyle/>
          <a:p>
            <a:r>
              <a:rPr lang="en-IN" sz="3200" b="1" dirty="0">
                <a:solidFill>
                  <a:schemeClr val="bg1"/>
                </a:solidFill>
              </a:rPr>
              <a:t>RESULT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65B6C2-49A9-7500-EDC9-C17B993F67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F7EFDB-81C4-C645-7222-00CCE36E97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82"/>
          <a:stretch>
            <a:fillRect/>
          </a:stretch>
        </p:blipFill>
        <p:spPr>
          <a:xfrm>
            <a:off x="863600" y="889000"/>
            <a:ext cx="11143487" cy="5907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14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69E57-EF3A-360B-6C30-B18003FEB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17917" y="0"/>
            <a:ext cx="3532518" cy="888521"/>
          </a:xfrm>
        </p:spPr>
        <p:txBody>
          <a:bodyPr/>
          <a:lstStyle/>
          <a:p>
            <a:r>
              <a:rPr lang="en-IN" sz="3200" b="1" dirty="0">
                <a:solidFill>
                  <a:schemeClr val="bg1"/>
                </a:solidFill>
              </a:rPr>
              <a:t>RESULT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8E8742-8E85-7AE8-F668-4866B1FE06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6FD427-1304-1F73-4746-9F12A3DA2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052072"/>
              </p:ext>
            </p:extLst>
          </p:nvPr>
        </p:nvGraphicFramePr>
        <p:xfrm>
          <a:off x="550332" y="1032933"/>
          <a:ext cx="11032068" cy="522101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838678">
                  <a:extLst>
                    <a:ext uri="{9D8B030D-6E8A-4147-A177-3AD203B41FA5}">
                      <a16:colId xmlns:a16="http://schemas.microsoft.com/office/drawing/2014/main" val="1054890506"/>
                    </a:ext>
                  </a:extLst>
                </a:gridCol>
                <a:gridCol w="1838678">
                  <a:extLst>
                    <a:ext uri="{9D8B030D-6E8A-4147-A177-3AD203B41FA5}">
                      <a16:colId xmlns:a16="http://schemas.microsoft.com/office/drawing/2014/main" val="2828370333"/>
                    </a:ext>
                  </a:extLst>
                </a:gridCol>
                <a:gridCol w="1838678">
                  <a:extLst>
                    <a:ext uri="{9D8B030D-6E8A-4147-A177-3AD203B41FA5}">
                      <a16:colId xmlns:a16="http://schemas.microsoft.com/office/drawing/2014/main" val="4259324993"/>
                    </a:ext>
                  </a:extLst>
                </a:gridCol>
                <a:gridCol w="1838678">
                  <a:extLst>
                    <a:ext uri="{9D8B030D-6E8A-4147-A177-3AD203B41FA5}">
                      <a16:colId xmlns:a16="http://schemas.microsoft.com/office/drawing/2014/main" val="1161462245"/>
                    </a:ext>
                  </a:extLst>
                </a:gridCol>
                <a:gridCol w="1838678">
                  <a:extLst>
                    <a:ext uri="{9D8B030D-6E8A-4147-A177-3AD203B41FA5}">
                      <a16:colId xmlns:a16="http://schemas.microsoft.com/office/drawing/2014/main" val="3711956144"/>
                    </a:ext>
                  </a:extLst>
                </a:gridCol>
                <a:gridCol w="1838678">
                  <a:extLst>
                    <a:ext uri="{9D8B030D-6E8A-4147-A177-3AD203B41FA5}">
                      <a16:colId xmlns:a16="http://schemas.microsoft.com/office/drawing/2014/main" val="1089008858"/>
                    </a:ext>
                  </a:extLst>
                </a:gridCol>
              </a:tblGrid>
              <a:tr h="470285">
                <a:tc>
                  <a:txBody>
                    <a:bodyPr/>
                    <a:lstStyle/>
                    <a:p>
                      <a:r>
                        <a:rPr lang="en-IN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ACTUAL ENERGY (kWh)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SVR (Support Vector Regression)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754085"/>
                  </a:ext>
                </a:extLst>
              </a:tr>
              <a:tr h="470285">
                <a:tc>
                  <a:txBody>
                    <a:bodyPr/>
                    <a:lstStyle/>
                    <a:p>
                      <a:r>
                        <a:rPr lang="en-IN" dirty="0"/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379049"/>
                  </a:ext>
                </a:extLst>
              </a:tr>
              <a:tr h="470285">
                <a:tc>
                  <a:txBody>
                    <a:bodyPr/>
                    <a:lstStyle/>
                    <a:p>
                      <a:r>
                        <a:rPr lang="en-IN" dirty="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734252"/>
                  </a:ext>
                </a:extLst>
              </a:tr>
              <a:tr h="470285">
                <a:tc>
                  <a:txBody>
                    <a:bodyPr/>
                    <a:lstStyle/>
                    <a:p>
                      <a:r>
                        <a:rPr lang="en-IN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947628"/>
                  </a:ext>
                </a:extLst>
              </a:tr>
              <a:tr h="470285">
                <a:tc>
                  <a:txBody>
                    <a:bodyPr/>
                    <a:lstStyle/>
                    <a:p>
                      <a:r>
                        <a:rPr lang="en-IN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123019"/>
                  </a:ext>
                </a:extLst>
              </a:tr>
              <a:tr h="470285">
                <a:tc>
                  <a:txBody>
                    <a:bodyPr/>
                    <a:lstStyle/>
                    <a:p>
                      <a:r>
                        <a:rPr lang="en-IN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997798"/>
                  </a:ext>
                </a:extLst>
              </a:tr>
              <a:tr h="470285">
                <a:tc>
                  <a:txBody>
                    <a:bodyPr/>
                    <a:lstStyle/>
                    <a:p>
                      <a:r>
                        <a:rPr lang="en-IN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783523"/>
                  </a:ext>
                </a:extLst>
              </a:tr>
              <a:tr h="470285">
                <a:tc>
                  <a:txBody>
                    <a:bodyPr/>
                    <a:lstStyle/>
                    <a:p>
                      <a:r>
                        <a:rPr lang="en-IN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449877"/>
                  </a:ext>
                </a:extLst>
              </a:tr>
              <a:tr h="470285">
                <a:tc>
                  <a:txBody>
                    <a:bodyPr/>
                    <a:lstStyle/>
                    <a:p>
                      <a:r>
                        <a:rPr lang="en-IN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513704"/>
                  </a:ext>
                </a:extLst>
              </a:tr>
              <a:tr h="470285">
                <a:tc>
                  <a:txBody>
                    <a:bodyPr/>
                    <a:lstStyle/>
                    <a:p>
                      <a:r>
                        <a:rPr lang="en-IN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884734"/>
                  </a:ext>
                </a:extLst>
              </a:tr>
              <a:tr h="470285"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160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6370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0C50B-6A58-39DF-A6A4-C4A3D8D99C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52C398-632C-0DA1-CD8E-6C65A18C0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792" y="805343"/>
            <a:ext cx="9764785" cy="55510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1E232D-0C2E-0BAA-B746-EBD464572E93}"/>
              </a:ext>
            </a:extLst>
          </p:cNvPr>
          <p:cNvSpPr txBox="1"/>
          <p:nvPr/>
        </p:nvSpPr>
        <p:spPr>
          <a:xfrm>
            <a:off x="1" y="0"/>
            <a:ext cx="57827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RESULT ANALYSIS</a:t>
            </a:r>
          </a:p>
        </p:txBody>
      </p:sp>
    </p:spTree>
    <p:extLst>
      <p:ext uri="{BB962C8B-B14F-4D97-AF65-F5344CB8AC3E}">
        <p14:creationId xmlns:p14="http://schemas.microsoft.com/office/powerpoint/2010/main" val="3466553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07ED4D38-D385-C1B1-D458-8E6FC8677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>
            <a:extLst>
              <a:ext uri="{FF2B5EF4-FFF2-40B4-BE49-F238E27FC236}">
                <a16:creationId xmlns:a16="http://schemas.microsoft.com/office/drawing/2014/main" id="{20891438-10CA-B654-437C-CC76AC469BF1}"/>
              </a:ext>
            </a:extLst>
          </p:cNvPr>
          <p:cNvSpPr txBox="1"/>
          <p:nvPr/>
        </p:nvSpPr>
        <p:spPr>
          <a:xfrm>
            <a:off x="119380" y="67310"/>
            <a:ext cx="889571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IN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 sz="32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>
            <a:extLst>
              <a:ext uri="{FF2B5EF4-FFF2-40B4-BE49-F238E27FC236}">
                <a16:creationId xmlns:a16="http://schemas.microsoft.com/office/drawing/2014/main" id="{EA46D0D4-BCA6-D5E7-FC1D-41FCA1E138A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">
            <a:extLst>
              <a:ext uri="{FF2B5EF4-FFF2-40B4-BE49-F238E27FC236}">
                <a16:creationId xmlns:a16="http://schemas.microsoft.com/office/drawing/2014/main" id="{4339AB9B-DF4C-40D5-41CD-2605A13E4FA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">
            <a:extLst>
              <a:ext uri="{FF2B5EF4-FFF2-40B4-BE49-F238E27FC236}">
                <a16:creationId xmlns:a16="http://schemas.microsoft.com/office/drawing/2014/main" id="{99290AB3-080E-02F5-6A27-3FD5F1732F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sp>
        <p:nvSpPr>
          <p:cNvPr id="169" name="Google Shape;169;p5">
            <a:extLst>
              <a:ext uri="{FF2B5EF4-FFF2-40B4-BE49-F238E27FC236}">
                <a16:creationId xmlns:a16="http://schemas.microsoft.com/office/drawing/2014/main" id="{D704FEC7-605D-9D94-516B-315367AF3F41}"/>
              </a:ext>
            </a:extLst>
          </p:cNvPr>
          <p:cNvSpPr txBox="1"/>
          <p:nvPr/>
        </p:nvSpPr>
        <p:spPr>
          <a:xfrm>
            <a:off x="347133" y="692527"/>
            <a:ext cx="11235267" cy="5223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endParaRPr lang="en-US" sz="20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CD9125-F79D-C775-708C-67289D804A2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95067" y="1353546"/>
            <a:ext cx="10601865" cy="390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Four ML models has been used to predict the energy for past 10 years.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b="1" dirty="0"/>
              <a:t>Linear Regression gave predictions closest to actual values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b="1" dirty="0"/>
              <a:t>Linear Regression provided the most accurate predictions for this dataset 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conclude that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Linear Regression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accurate model to predict wind energy using AI .</a:t>
            </a:r>
          </a:p>
        </p:txBody>
      </p:sp>
    </p:spTree>
    <p:extLst>
      <p:ext uri="{BB962C8B-B14F-4D97-AF65-F5344CB8AC3E}">
        <p14:creationId xmlns:p14="http://schemas.microsoft.com/office/powerpoint/2010/main" val="1361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052EB3-FB3A-BB4B-CCE1-BC1434902C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</a:t>
            </a:fld>
            <a:endParaRPr lang="en-IN"/>
          </a:p>
        </p:txBody>
      </p:sp>
      <p:pic>
        <p:nvPicPr>
          <p:cNvPr id="1028" name="Picture 4" descr="Thank You Vector Art, Icons, and Graphics for Free Download">
            <a:extLst>
              <a:ext uri="{FF2B5EF4-FFF2-40B4-BE49-F238E27FC236}">
                <a16:creationId xmlns:a16="http://schemas.microsoft.com/office/drawing/2014/main" id="{12ACF4AA-2B98-5B57-BC71-403DF944D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760" y="960120"/>
            <a:ext cx="5156200" cy="515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714419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941</TotalTime>
  <Words>425</Words>
  <Application>Microsoft Office PowerPoint</Application>
  <PresentationFormat>Widescreen</PresentationFormat>
  <Paragraphs>161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Bell MT</vt:lpstr>
      <vt:lpstr>Calibri</vt:lpstr>
      <vt:lpstr>Verdana</vt:lpstr>
      <vt:lpstr>Custom Design</vt:lpstr>
      <vt:lpstr>Section C WIND ENERGY PREDICTION USING AI</vt:lpstr>
      <vt:lpstr>PowerPoint Presentation</vt:lpstr>
      <vt:lpstr>INTRODUCTION</vt:lpstr>
      <vt:lpstr>PowerPoint Presentation</vt:lpstr>
      <vt:lpstr>PowerPoint Presentation</vt:lpstr>
      <vt:lpstr>PowerPoint Presentation</vt:lpstr>
      <vt:lpstr>RESULT</vt:lpstr>
      <vt:lpstr>RESULT ANALYSIS</vt:lpstr>
      <vt:lpstr>RESULT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Thrisha Reddy</cp:lastModifiedBy>
  <cp:revision>12</cp:revision>
  <dcterms:created xsi:type="dcterms:W3CDTF">2016-12-14T06:04:00Z</dcterms:created>
  <dcterms:modified xsi:type="dcterms:W3CDTF">2025-12-02T17:24:26Z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702CA046016A4DEE82C49E49005D3C7A_12</vt:lpwstr>
  </property>
  <property fmtid="{D5CDD505-2E9C-101B-9397-08002B2CF9AE}" pid="3" name="KSOProductBuildVer">
    <vt:lpwstr>1033-12.2.0.21179</vt:lpwstr>
  </property>
</Properties>
</file>